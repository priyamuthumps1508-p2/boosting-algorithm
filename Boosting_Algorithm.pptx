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62502fd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62502fd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62502fd22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b62502fd22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62502fd2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b62502fd2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b62502fd2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b62502fd2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62502fd2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62502fd2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1" y="519150"/>
            <a:ext cx="7757400" cy="179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Boosting </a:t>
            </a:r>
            <a:r>
              <a:rPr lang="en" sz="4800"/>
              <a:t>Algorithm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 </a:t>
            </a:r>
            <a:r>
              <a:rPr lang="en"/>
              <a:t>Algorithm</a:t>
            </a:r>
            <a:r>
              <a:rPr lang="en"/>
              <a:t> -Regression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B</a:t>
            </a:r>
            <a:r>
              <a:rPr lang="en" sz="1600">
                <a:solidFill>
                  <a:schemeClr val="dk1"/>
                </a:solidFill>
              </a:rPr>
              <a:t>oosting in the context of regression is </a:t>
            </a:r>
            <a:r>
              <a:rPr lang="en" sz="1700">
                <a:solidFill>
                  <a:srgbClr val="001D35"/>
                </a:solidFill>
              </a:rPr>
              <a:t>an ensemble machine learning method that sequentially combines many simple "weak" regression models, typically decision trees, to create a single, powerful predictive model</a:t>
            </a:r>
            <a:r>
              <a:rPr lang="en" sz="1700">
                <a:solidFill>
                  <a:srgbClr val="0A0A0A"/>
                </a:solidFill>
                <a:highlight>
                  <a:srgbClr val="FFFFFF"/>
                </a:highlight>
              </a:rPr>
              <a:t>. Each new model in the sequence focuses on correcting the errors (residuals) made by the previous ones. 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Boosting </a:t>
            </a:r>
            <a:r>
              <a:rPr lang="en"/>
              <a:t>Algorithm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AdaBoost:</a:t>
            </a:r>
            <a:r>
              <a:rPr lang="en" sz="1500">
                <a:solidFill>
                  <a:schemeClr val="dk1"/>
                </a:solidFill>
              </a:rPr>
              <a:t> Simple, small datasets, focus on hard examples.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XGBoost:</a:t>
            </a:r>
            <a:r>
              <a:rPr lang="en" sz="1500">
                <a:solidFill>
                  <a:schemeClr val="dk1"/>
                </a:solidFill>
              </a:rPr>
              <a:t> Faster, accurate, medium-large datasets, with regularization.</a:t>
            </a:r>
            <a:br>
              <a:rPr lang="en" sz="1500">
                <a:solidFill>
                  <a:schemeClr val="dk1"/>
                </a:solidFill>
              </a:rPr>
            </a:b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LightGBM:</a:t>
            </a:r>
            <a:r>
              <a:rPr lang="en" sz="1500">
                <a:solidFill>
                  <a:schemeClr val="dk1"/>
                </a:solidFill>
              </a:rPr>
              <a:t> Super fast for large datasets, leaf-wise growth, efficient memory, handles categorical features natively.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1D35"/>
                </a:solidFill>
                <a:highlight>
                  <a:srgbClr val="FFFFFF"/>
                </a:highlight>
              </a:rPr>
              <a:t>How it Works (Gradient Boosting Regression)</a:t>
            </a:r>
            <a:endParaRPr sz="3000"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41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t/>
            </a:r>
            <a:endParaRPr sz="1362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4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852"/>
              <a:buFont typeface="Arial"/>
              <a:buNone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The most common form of boosting for regression is Gradient Boosting, which operates as a gradient descent optimization process to minimize a loss function (e.g., mean squared error). 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0355" lvl="0" marL="45720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rgbClr val="0A0A0A"/>
              </a:buClr>
              <a:buSzPts val="1130"/>
              <a:buAutoNum type="arabicPeriod"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Initial Model: The process starts with a simple initial prediction for all data points, usually the mean of the target variable.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035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30"/>
              <a:buAutoNum type="arabicPeriod"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Calculate Residuals: The residuals (errors) are calculated as the difference between the actual observed values and the current model's predictions.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035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30"/>
              <a:buAutoNum type="arabicPeriod"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Fit a Weak Learner: A new, weak regression model (a shallow decision tree) is trained to predict these residuals, effectively focusing on the areas where the current model performs poorly.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035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30"/>
              <a:buAutoNum type="arabicPeriod"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Update the Model: The new model's predictions, scaled by a learning rate (a small value, e.g., 0.1, to prevent overfitting), are added to the existing ensemble model's predictions. This is done in small steps to ensure gradual and robust improvement.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035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30"/>
              <a:buAutoNum type="arabicPeriod"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Iterate: Steps 2-4 are repeated for a specified number of iterations (trees) or until the model performance on a validation dataset stops improving (known as early stopping).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0355" lvl="0" marL="45720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30"/>
              <a:buAutoNum type="arabicPeriod"/>
            </a:pPr>
            <a:r>
              <a:rPr lang="en" sz="1130">
                <a:solidFill>
                  <a:srgbClr val="0A0A0A"/>
                </a:solidFill>
                <a:highlight>
                  <a:srgbClr val="FFFFFF"/>
                </a:highlight>
              </a:rPr>
              <a:t>Final Prediction: The final model's prediction is the sum of the predictions from all the individual weak learners in the sequence. </a:t>
            </a:r>
            <a:endParaRPr sz="113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5000"/>
              </a:lnSpc>
              <a:spcBef>
                <a:spcPts val="2400"/>
              </a:spcBef>
              <a:spcAft>
                <a:spcPts val="1200"/>
              </a:spcAft>
              <a:buSzPts val="852"/>
              <a:buNone/>
            </a:pPr>
            <a:r>
              <a:t/>
            </a:r>
            <a:endParaRPr sz="1595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1D35"/>
                </a:solidFill>
                <a:highlight>
                  <a:srgbClr val="FFFFFF"/>
                </a:highlight>
              </a:rPr>
              <a:t>Popular Algorithms</a:t>
            </a:r>
            <a:endParaRPr sz="2100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t/>
            </a:r>
            <a:endParaRPr sz="1475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" sz="1220">
                <a:solidFill>
                  <a:srgbClr val="0A0A0A"/>
                </a:solidFill>
                <a:highlight>
                  <a:srgbClr val="FFFFFF"/>
                </a:highlight>
              </a:rPr>
              <a:t>Several robust and widely used algorithms leverage boosting for regression tasks: </a:t>
            </a:r>
            <a:endParaRPr sz="122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6070" lvl="0" marL="457200" rtl="0" algn="l">
              <a:lnSpc>
                <a:spcPct val="130000"/>
              </a:lnSpc>
              <a:spcBef>
                <a:spcPts val="1500"/>
              </a:spcBef>
              <a:spcAft>
                <a:spcPts val="0"/>
              </a:spcAft>
              <a:buClr>
                <a:srgbClr val="0A0A0A"/>
              </a:buClr>
              <a:buSzPts val="1220"/>
              <a:buChar char="●"/>
            </a:pPr>
            <a:r>
              <a:rPr lang="en" sz="1220">
                <a:solidFill>
                  <a:srgbClr val="0A0A0A"/>
                </a:solidFill>
                <a:highlight>
                  <a:srgbClr val="FFFFFF"/>
                </a:highlight>
              </a:rPr>
              <a:t>Gradient Boosting Machine (GBM): The foundational algorithm that uses decision trees as weak learners and optimizes a differentiable loss function.</a:t>
            </a:r>
            <a:endParaRPr sz="122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607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20"/>
              <a:buChar char="●"/>
            </a:pPr>
            <a:r>
              <a:rPr lang="en" sz="1220">
                <a:solidFill>
                  <a:srgbClr val="0A0A0A"/>
                </a:solidFill>
                <a:highlight>
                  <a:srgbClr val="FFFFFF"/>
                </a:highlight>
              </a:rPr>
              <a:t>XGBoost (eXtreme Gradient Boosting): An optimized and highly efficient implementation of gradient boosting that includes advanced regularization techniques, handles missing values internally, and is known for its speed and performance in machine learning competitions.</a:t>
            </a:r>
            <a:endParaRPr sz="122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607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20"/>
              <a:buChar char="●"/>
            </a:pPr>
            <a:r>
              <a:rPr lang="en" sz="1220">
                <a:solidFill>
                  <a:srgbClr val="0A0A0A"/>
                </a:solidFill>
                <a:highlight>
                  <a:srgbClr val="FFFFFF"/>
                </a:highlight>
              </a:rPr>
              <a:t>LightGBM (Light Gradient-Boosting Machine): A faster, more memory-efficient algorithm that uses a leaf-wise tree growth strategy and a histogram-based method for finding optimal splits, well-suited for large datasets.</a:t>
            </a:r>
            <a:endParaRPr sz="122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0607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20"/>
              <a:buChar char="●"/>
            </a:pPr>
            <a:r>
              <a:rPr lang="en" sz="1220">
                <a:solidFill>
                  <a:srgbClr val="0A0A0A"/>
                </a:solidFill>
                <a:highlight>
                  <a:srgbClr val="FFFFFF"/>
                </a:highlight>
              </a:rPr>
              <a:t>CatBoost: An algorithm specifically designed to handle categorical variables in the data automatically, reducing the need for extensive data preprocessing. </a:t>
            </a:r>
            <a:endParaRPr sz="122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95000"/>
              </a:lnSpc>
              <a:spcBef>
                <a:spcPts val="24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>
                <a:solidFill>
                  <a:srgbClr val="001D35"/>
                </a:solidFill>
                <a:highlight>
                  <a:srgbClr val="FFFFFF"/>
                </a:highlight>
              </a:rPr>
              <a:t>Benefits and Considerations</a:t>
            </a:r>
            <a:endParaRPr sz="3000"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92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rgbClr val="001D35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A0A0A"/>
              </a:buClr>
              <a:buSzPts val="1400"/>
              <a:buChar char="●"/>
            </a:pPr>
            <a:r>
              <a:rPr lang="en" sz="1400">
                <a:solidFill>
                  <a:srgbClr val="0A0A0A"/>
                </a:solidFill>
                <a:highlight>
                  <a:srgbClr val="FFFFFF"/>
                </a:highlight>
              </a:rPr>
              <a:t>High Accuracy: Boosting algorithms are known for their high predictive accuracy, often outperforming simpler models.</a:t>
            </a:r>
            <a:endParaRPr sz="14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Char char="●"/>
            </a:pPr>
            <a:r>
              <a:rPr lang="en" sz="1400">
                <a:solidFill>
                  <a:srgbClr val="0A0A0A"/>
                </a:solidFill>
                <a:highlight>
                  <a:srgbClr val="FFFFFF"/>
                </a:highlight>
              </a:rPr>
              <a:t>Handles Complex Data: They can capture non-linear relationships and interactions between features effectively.</a:t>
            </a:r>
            <a:endParaRPr sz="14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Char char="●"/>
            </a:pPr>
            <a:r>
              <a:rPr lang="en" sz="1400">
                <a:solidFill>
                  <a:srgbClr val="0A0A0A"/>
                </a:solidFill>
                <a:highlight>
                  <a:srgbClr val="FFFFFF"/>
                </a:highlight>
              </a:rPr>
              <a:t>Robustness: Many modern implementations (like XGBoost) are robust to missing values and outliers.</a:t>
            </a:r>
            <a:endParaRPr sz="14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Char char="●"/>
            </a:pPr>
            <a:r>
              <a:rPr lang="en" sz="1400">
                <a:solidFill>
                  <a:srgbClr val="0A0A0A"/>
                </a:solidFill>
                <a:highlight>
                  <a:srgbClr val="FFFFFF"/>
                </a:highlight>
              </a:rPr>
              <a:t>Overfitting Risk: If not tuned properly (e.g., using a high learning rate or too many trees without regularization), the sequential nature can make them prone to overfitting the training data.</a:t>
            </a:r>
            <a:endParaRPr sz="14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400"/>
              <a:buChar char="●"/>
            </a:pPr>
            <a:r>
              <a:rPr lang="en" sz="1400">
                <a:solidFill>
                  <a:srgbClr val="0A0A0A"/>
                </a:solidFill>
                <a:highlight>
                  <a:srgbClr val="FFFFFF"/>
                </a:highlight>
              </a:rPr>
              <a:t>Less Interpretable: The final model is an ensemble of many trees, making it complex and less straightforward to interpret compared to a single linear regression model. </a:t>
            </a:r>
            <a:endParaRPr sz="14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24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